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81" r:id="rId4"/>
    <p:sldId id="278" r:id="rId5"/>
    <p:sldId id="280" r:id="rId6"/>
    <p:sldId id="285" r:id="rId7"/>
    <p:sldId id="266" r:id="rId8"/>
    <p:sldId id="283" r:id="rId9"/>
    <p:sldId id="286" r:id="rId10"/>
    <p:sldId id="288" r:id="rId11"/>
    <p:sldId id="289" r:id="rId12"/>
  </p:sldIdLst>
  <p:sldSz cx="12192000" cy="6858000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143"/>
    <a:srgbClr val="86C3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smtClean="0">
                <a:ln>
                  <a:noFill/>
                </a:ln>
                <a:effectLst/>
                <a:uLnTx/>
                <a:uFillTx/>
                <a:sym typeface="+mn-ea"/>
              </a:rPr>
              <a:t>Click to edit Master text style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smtClean="0">
                <a:ln>
                  <a:noFill/>
                </a:ln>
                <a:effectLst/>
                <a:uLnTx/>
                <a:uFillTx/>
                <a:sym typeface="+mn-ea"/>
              </a:rPr>
              <a:t>Second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smtClean="0">
                <a:ln>
                  <a:noFill/>
                </a:ln>
                <a:effectLst/>
                <a:uLnTx/>
                <a:uFillTx/>
                <a:sym typeface="+mn-ea"/>
              </a:rPr>
              <a:t>Third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smtClean="0">
                <a:ln>
                  <a:noFill/>
                </a:ln>
                <a:effectLst/>
                <a:uLnTx/>
                <a:uFillTx/>
                <a:sym typeface="+mn-ea"/>
              </a:rPr>
              <a:t>Fourth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noProof="0" smtClean="0">
                <a:ln>
                  <a:noFill/>
                </a:ln>
                <a:effectLst/>
                <a:uLnTx/>
                <a:uFillTx/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D64399-DA1B-4C0A-BEE9-43B7B2A794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 advClick="0" advTm="3000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smtClean="0">
                <a:sym typeface="+mn-ea"/>
              </a:rPr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smtClean="0">
                <a:sym typeface="+mn-ea"/>
              </a:rPr>
              <a:t>Click to edit Master text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D64399-DA1B-4C0A-BEE9-43B7B2A794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 advClick="0" advTm="3000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tags" Target="../tags/tag50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4000">
              <a:schemeClr val="tx1">
                <a:lumMod val="95000"/>
                <a:lumOff val="5000"/>
              </a:schemeClr>
            </a:gs>
            <a:gs pos="0">
              <a:schemeClr val="bg1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3074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5788" y="0"/>
            <a:ext cx="4562475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文本框 5"/>
          <p:cNvSpPr txBox="1"/>
          <p:nvPr/>
        </p:nvSpPr>
        <p:spPr>
          <a:xfrm>
            <a:off x="300355" y="2272030"/>
            <a:ext cx="663638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en-US" sz="60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Vai trò AI trong các công cụ hàng ngày</a:t>
            </a:r>
            <a:endParaRPr lang="en-US" altLang="en-US" sz="60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 advClick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4000">
              <a:schemeClr val="tx1">
                <a:lumMod val="95000"/>
                <a:lumOff val="5000"/>
              </a:schemeClr>
            </a:gs>
            <a:gs pos="0">
              <a:schemeClr val="bg1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075" name="文本框 5"/>
          <p:cNvSpPr txBox="1"/>
          <p:nvPr/>
        </p:nvSpPr>
        <p:spPr>
          <a:xfrm>
            <a:off x="2777490" y="2272030"/>
            <a:ext cx="663638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 eaLnBrk="1" hangingPunct="1"/>
            <a:r>
              <a:rPr lang="vi-VN" altLang="zh-CN" sz="6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Tổng quan về các công cụ AI</a:t>
            </a:r>
            <a:endParaRPr lang="en-US" altLang="en-US" sz="6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 advClick="0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4000">
              <a:schemeClr val="tx1">
                <a:lumMod val="95000"/>
                <a:lumOff val="5000"/>
              </a:schemeClr>
            </a:gs>
            <a:gs pos="0">
              <a:schemeClr val="tx1">
                <a:lumMod val="65000"/>
                <a:lumOff val="3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8674" name="文本框 1"/>
          <p:cNvSpPr txBox="1"/>
          <p:nvPr/>
        </p:nvSpPr>
        <p:spPr>
          <a:xfrm>
            <a:off x="347980" y="219075"/>
            <a:ext cx="50050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vi-VN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Tổng quan về các công cụ AI</a:t>
            </a:r>
            <a:endParaRPr lang="vi-VN" altLang="zh-CN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8675" name="组合 2"/>
          <p:cNvGrpSpPr/>
          <p:nvPr>
            <p:custDataLst>
              <p:tags r:id="rId1"/>
            </p:custDataLst>
          </p:nvPr>
        </p:nvGrpSpPr>
        <p:grpSpPr>
          <a:xfrm>
            <a:off x="1222375" y="1749425"/>
            <a:ext cx="2881313" cy="3970338"/>
            <a:chOff x="1111864" y="2050635"/>
            <a:chExt cx="2882083" cy="3971561"/>
          </a:xfrm>
        </p:grpSpPr>
        <p:grpSp>
          <p:nvGrpSpPr>
            <p:cNvPr id="28702" name="组合 3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10" name="矩形 9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任意多边形 10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1219992" y="2348829"/>
              <a:ext cx="811441" cy="911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32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01</a:t>
              </a:r>
              <a:endParaRPr kumimoji="0" lang="zh-CN" altLang="en-US" sz="532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2023304" y="2568193"/>
              <a:ext cx="1967756" cy="542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Trợ l</a:t>
              </a: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ý</a:t>
              </a: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 ảo 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(Virtual Assistants)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2099701" y="2802891"/>
              <a:ext cx="309963" cy="255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7"/>
              </p:custDataLst>
            </p:nvPr>
          </p:nvSpPr>
          <p:spPr>
            <a:xfrm>
              <a:off x="1291689" y="3326347"/>
              <a:ext cx="2522293" cy="2307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nh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 Siri, Google Assistant hay Alexa hỗ trợ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ặt lịch, tra cứu thông tin và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iều khiển thiết bị thông minh chỉ bằng giọng nói giúp cho các hoạt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ộng diễn ra một cách dễ dàng hơn.</a:t>
              </a:r>
              <a:endParaRPr kumimoji="0" lang="en-US" altLang="en-US" sz="15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8"/>
              </p:custDataLst>
            </p:nvPr>
          </p:nvCxnSpPr>
          <p:spPr>
            <a:xfrm>
              <a:off x="1270693" y="3290833"/>
              <a:ext cx="2543289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76" name="组合 11"/>
          <p:cNvGrpSpPr/>
          <p:nvPr>
            <p:custDataLst>
              <p:tags r:id="rId9"/>
            </p:custDataLst>
          </p:nvPr>
        </p:nvGrpSpPr>
        <p:grpSpPr>
          <a:xfrm>
            <a:off x="4638675" y="1749425"/>
            <a:ext cx="2933671" cy="3970338"/>
            <a:chOff x="1111864" y="2050635"/>
            <a:chExt cx="2934455" cy="3971561"/>
          </a:xfrm>
        </p:grpSpPr>
        <p:grpSp>
          <p:nvGrpSpPr>
            <p:cNvPr id="28690" name="组合 12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19" name="矩形 18"/>
              <p:cNvSpPr/>
              <p:nvPr>
                <p:custDataLst>
                  <p:tags r:id="rId10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任意多边形 19"/>
              <p:cNvSpPr/>
              <p:nvPr>
                <p:custDataLst>
                  <p:tags r:id="rId11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219992" y="2348829"/>
              <a:ext cx="894797" cy="911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325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02</a:t>
              </a:r>
              <a:endParaRPr kumimoji="0" lang="zh-CN" altLang="en-US" sz="532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2008059" y="2566287"/>
              <a:ext cx="2038260" cy="542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1465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Hệ thống </a:t>
              </a:r>
              <a:endParaRPr lang="en-US" altLang="en-US" sz="1465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1465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đề xuất thông minh</a:t>
              </a:r>
              <a:endParaRPr kumimoji="0" lang="zh-CN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2099701" y="2802891"/>
              <a:ext cx="309963" cy="255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91689" y="3326347"/>
              <a:ext cx="2522293" cy="20618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Netflix, Spotify, Amazon giúp ng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ời dùng tìm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ợc phim, nhạc hoặc ch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ơng trình phù hợp với từng sở thích cá nhân hỗ trợ vui chơi giải trí và tiết kiệm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ợc thời gian.</a:t>
              </a:r>
              <a:endParaRPr kumimoji="0" lang="en-US" altLang="en-US" sz="15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cxnSp>
          <p:nvCxnSpPr>
            <p:cNvPr id="18" name="直接连接符 17"/>
            <p:cNvCxnSpPr/>
            <p:nvPr>
              <p:custDataLst>
                <p:tags r:id="rId16"/>
              </p:custDataLst>
            </p:nvPr>
          </p:nvCxnSpPr>
          <p:spPr>
            <a:xfrm>
              <a:off x="1270693" y="3290833"/>
              <a:ext cx="2543289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77" name="组合 20"/>
          <p:cNvGrpSpPr/>
          <p:nvPr>
            <p:custDataLst>
              <p:tags r:id="rId17"/>
            </p:custDataLst>
          </p:nvPr>
        </p:nvGrpSpPr>
        <p:grpSpPr>
          <a:xfrm>
            <a:off x="8051800" y="1751013"/>
            <a:ext cx="2881313" cy="3971925"/>
            <a:chOff x="1111864" y="2050635"/>
            <a:chExt cx="2882083" cy="3971561"/>
          </a:xfrm>
        </p:grpSpPr>
        <p:grpSp>
          <p:nvGrpSpPr>
            <p:cNvPr id="28678" name="组合 21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28" name="矩形 27"/>
              <p:cNvSpPr/>
              <p:nvPr>
                <p:custDataLst>
                  <p:tags r:id="rId18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任意多边形 28"/>
              <p:cNvSpPr/>
              <p:nvPr>
                <p:custDataLst>
                  <p:tags r:id="rId19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3" name="矩形 22"/>
            <p:cNvSpPr/>
            <p:nvPr>
              <p:custDataLst>
                <p:tags r:id="rId20"/>
              </p:custDataLst>
            </p:nvPr>
          </p:nvSpPr>
          <p:spPr>
            <a:xfrm>
              <a:off x="1219992" y="2348829"/>
              <a:ext cx="914033" cy="911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325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03</a:t>
              </a:r>
              <a:endParaRPr kumimoji="0" lang="zh-CN" altLang="en-US" sz="532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21"/>
              </p:custDataLst>
            </p:nvPr>
          </p:nvSpPr>
          <p:spPr>
            <a:xfrm>
              <a:off x="2066495" y="2431044"/>
              <a:ext cx="1290030" cy="768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Xe tự lái và 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giao </a:t>
              </a: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thông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thông minh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22"/>
              </p:custDataLst>
            </p:nvPr>
          </p:nvSpPr>
          <p:spPr>
            <a:xfrm>
              <a:off x="2099701" y="2802891"/>
              <a:ext cx="309963" cy="25524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3"/>
              </p:custDataLst>
            </p:nvPr>
          </p:nvSpPr>
          <p:spPr>
            <a:xfrm>
              <a:off x="1291689" y="3326347"/>
              <a:ext cx="2522293" cy="25531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tiêu biểu nh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 Tesla (nhận diện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ợc vật cản) hoặc các ứng dụng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iều h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ớng Google Maps (dự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oán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ợc kẹt xe) hỗ trợ di chuyển an toàn, tối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u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ờng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i và giảm ùn tắc, tiết kiệm nhiên liệu, giảm tai nạn.</a:t>
              </a:r>
              <a:endParaRPr kumimoji="0" lang="en-US" altLang="en-US" sz="15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24"/>
              </p:custDataLst>
            </p:nvPr>
          </p:nvCxnSpPr>
          <p:spPr>
            <a:xfrm>
              <a:off x="1270693" y="3290833"/>
              <a:ext cx="2543289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Click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4000">
              <a:schemeClr val="tx1">
                <a:lumMod val="95000"/>
                <a:lumOff val="5000"/>
              </a:schemeClr>
            </a:gs>
            <a:gs pos="0">
              <a:schemeClr val="tx1">
                <a:lumMod val="65000"/>
                <a:lumOff val="3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8674" name="文本框 1"/>
          <p:cNvSpPr txBox="1"/>
          <p:nvPr/>
        </p:nvSpPr>
        <p:spPr>
          <a:xfrm>
            <a:off x="347980" y="219075"/>
            <a:ext cx="50050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vi-VN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Tổng quan về các công cụ AI</a:t>
            </a:r>
            <a:endParaRPr lang="vi-VN" altLang="zh-CN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8675" name="组合 2"/>
          <p:cNvGrpSpPr/>
          <p:nvPr>
            <p:custDataLst>
              <p:tags r:id="rId1"/>
            </p:custDataLst>
          </p:nvPr>
        </p:nvGrpSpPr>
        <p:grpSpPr>
          <a:xfrm>
            <a:off x="1222375" y="1749425"/>
            <a:ext cx="2881313" cy="3970338"/>
            <a:chOff x="1111864" y="2050635"/>
            <a:chExt cx="2882083" cy="3971561"/>
          </a:xfrm>
        </p:grpSpPr>
        <p:grpSp>
          <p:nvGrpSpPr>
            <p:cNvPr id="28702" name="组合 3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10" name="矩形 9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任意多边形 10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1219992" y="2348829"/>
              <a:ext cx="885427" cy="91150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32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0</a:t>
              </a:r>
              <a:r>
                <a:rPr kumimoji="0" lang="vi-VN" altLang="en-US" sz="532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4</a:t>
              </a:r>
              <a:endParaRPr kumimoji="0" lang="vi-VN" altLang="en-US" sz="532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1943272" y="2568193"/>
              <a:ext cx="2034449" cy="542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ea"/>
                </a:rPr>
                <a:t> Ch</a:t>
              </a: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ea"/>
                </a:rPr>
                <a:t>ă</a:t>
              </a: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ea"/>
                </a:rPr>
                <a:t>m sóc sức khỏe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ea"/>
                </a:rPr>
                <a:t> bác s</a:t>
              </a: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ea"/>
                </a:rPr>
                <a:t>ĩ</a:t>
              </a: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ea"/>
                </a:rPr>
                <a:t> hỗ trợ 24/7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2099701" y="2802891"/>
              <a:ext cx="309963" cy="255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7"/>
              </p:custDataLst>
            </p:nvPr>
          </p:nvSpPr>
          <p:spPr>
            <a:xfrm>
              <a:off x="1291689" y="3326347"/>
              <a:ext cx="2522293" cy="25541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Apple Health, Fitbit dùng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ể theo d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õ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i nhịp tim, b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ớc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i, giấc ngủ, giúp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ề xuất các chế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ộ sinh hoạt khoa học.Hay các hệ thống AI dùng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ể phân tích hình ảnh y khoa, hỗ trợ chẩn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oán bệnh nhanh và chính xác hơn.</a:t>
              </a:r>
              <a:r>
                <a:rPr kumimoji="0" lang="vi-VN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	</a:t>
              </a:r>
              <a:endParaRPr kumimoji="0" lang="vi-VN" altLang="en-US" sz="15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8"/>
              </p:custDataLst>
            </p:nvPr>
          </p:nvCxnSpPr>
          <p:spPr>
            <a:xfrm>
              <a:off x="1270693" y="3290833"/>
              <a:ext cx="2543289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76" name="组合 11"/>
          <p:cNvGrpSpPr/>
          <p:nvPr>
            <p:custDataLst>
              <p:tags r:id="rId9"/>
            </p:custDataLst>
          </p:nvPr>
        </p:nvGrpSpPr>
        <p:grpSpPr>
          <a:xfrm>
            <a:off x="4638675" y="1749425"/>
            <a:ext cx="2881313" cy="3970338"/>
            <a:chOff x="1111864" y="2050635"/>
            <a:chExt cx="2882083" cy="3971561"/>
          </a:xfrm>
        </p:grpSpPr>
        <p:grpSp>
          <p:nvGrpSpPr>
            <p:cNvPr id="28690" name="组合 12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19" name="矩形 18"/>
              <p:cNvSpPr/>
              <p:nvPr>
                <p:custDataLst>
                  <p:tags r:id="rId10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任意多边形 19"/>
              <p:cNvSpPr/>
              <p:nvPr>
                <p:custDataLst>
                  <p:tags r:id="rId11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219992" y="2348829"/>
              <a:ext cx="910833" cy="91150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325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0</a:t>
              </a:r>
              <a:r>
                <a:rPr kumimoji="0" lang="vi-VN" altLang="en-US" sz="5325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5</a:t>
              </a:r>
              <a:endParaRPr kumimoji="0" lang="vi-VN" altLang="en-US" sz="5325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2008059" y="2566287"/>
              <a:ext cx="1803247" cy="542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Công cụ sáng tạo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 và giải trí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2099701" y="2802891"/>
              <a:ext cx="309963" cy="255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91689" y="3326347"/>
              <a:ext cx="2522293" cy="25541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AI hỗ trợ chỉnh sửa ảnh (Photoshop), tạo nhạc (Aiva), viết v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ă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 bản hay trả lời câu hỏi, giúp nâng cao khả n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ă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ng sáng tạo của con ng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ời, giảm thiểu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ợc những khó kh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ă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 khi lập kế hoạch, dễ dàng tiếp cận nghệ thuật</a:t>
              </a:r>
              <a:endParaRPr kumimoji="0" lang="en-US" altLang="en-US" sz="15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cxnSp>
          <p:nvCxnSpPr>
            <p:cNvPr id="18" name="直接连接符 17"/>
            <p:cNvCxnSpPr/>
            <p:nvPr>
              <p:custDataLst>
                <p:tags r:id="rId16"/>
              </p:custDataLst>
            </p:nvPr>
          </p:nvCxnSpPr>
          <p:spPr>
            <a:xfrm>
              <a:off x="1270693" y="3290833"/>
              <a:ext cx="2543289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77" name="组合 20"/>
          <p:cNvGrpSpPr/>
          <p:nvPr>
            <p:custDataLst>
              <p:tags r:id="rId17"/>
            </p:custDataLst>
          </p:nvPr>
        </p:nvGrpSpPr>
        <p:grpSpPr>
          <a:xfrm>
            <a:off x="8051800" y="1751013"/>
            <a:ext cx="2881313" cy="3971925"/>
            <a:chOff x="1111864" y="2050635"/>
            <a:chExt cx="2882083" cy="3971561"/>
          </a:xfrm>
        </p:grpSpPr>
        <p:grpSp>
          <p:nvGrpSpPr>
            <p:cNvPr id="28678" name="组合 21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28" name="矩形 27"/>
              <p:cNvSpPr/>
              <p:nvPr>
                <p:custDataLst>
                  <p:tags r:id="rId18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任意多边形 28"/>
              <p:cNvSpPr/>
              <p:nvPr>
                <p:custDataLst>
                  <p:tags r:id="rId19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3" name="矩形 22"/>
            <p:cNvSpPr/>
            <p:nvPr>
              <p:custDataLst>
                <p:tags r:id="rId20"/>
              </p:custDataLst>
            </p:nvPr>
          </p:nvSpPr>
          <p:spPr>
            <a:xfrm>
              <a:off x="1219992" y="2348829"/>
              <a:ext cx="914009" cy="91114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325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0</a:t>
              </a:r>
              <a:r>
                <a:rPr kumimoji="0" lang="vi-VN" altLang="en-US" sz="5325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6</a:t>
              </a:r>
              <a:endParaRPr kumimoji="0" lang="vi-VN" altLang="en-US" sz="5325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21"/>
              </p:custDataLst>
            </p:nvPr>
          </p:nvSpPr>
          <p:spPr>
            <a:xfrm>
              <a:off x="2047440" y="2564382"/>
              <a:ext cx="1335127" cy="542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 Giáo dục 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và công việc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22"/>
              </p:custDataLst>
            </p:nvPr>
          </p:nvSpPr>
          <p:spPr>
            <a:xfrm>
              <a:off x="2099701" y="2802891"/>
              <a:ext cx="309963" cy="25524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3"/>
              </p:custDataLst>
            </p:nvPr>
          </p:nvSpPr>
          <p:spPr>
            <a:xfrm>
              <a:off x="1291689" y="3326347"/>
              <a:ext cx="2522293" cy="20610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AI hỗ trợ viết,Google dịch hoặc DeepL hỗ trợ dịch thuật. Grammarly kiểm tra lỗi chính tả, ngữ pháp giúp việc học và làm trở nên hiệu quả hơn, tiết kiệm 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ợc thời gian và công sức.</a:t>
              </a:r>
              <a:endParaRPr kumimoji="0" lang="en-US" altLang="en-US" sz="15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24"/>
              </p:custDataLst>
            </p:nvPr>
          </p:nvCxnSpPr>
          <p:spPr>
            <a:xfrm>
              <a:off x="1270693" y="3290833"/>
              <a:ext cx="2543289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Click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4000">
              <a:schemeClr val="tx1">
                <a:lumMod val="95000"/>
                <a:lumOff val="5000"/>
              </a:schemeClr>
            </a:gs>
            <a:gs pos="0">
              <a:schemeClr val="tx1">
                <a:lumMod val="65000"/>
                <a:lumOff val="3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8674" name="文本框 1"/>
          <p:cNvSpPr txBox="1"/>
          <p:nvPr/>
        </p:nvSpPr>
        <p:spPr>
          <a:xfrm>
            <a:off x="347980" y="219075"/>
            <a:ext cx="50050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vi-VN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Tổng quan về các công cụ AI</a:t>
            </a:r>
            <a:endParaRPr lang="vi-VN" altLang="zh-CN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8675" name="组合 2"/>
          <p:cNvGrpSpPr/>
          <p:nvPr>
            <p:custDataLst>
              <p:tags r:id="rId1"/>
            </p:custDataLst>
          </p:nvPr>
        </p:nvGrpSpPr>
        <p:grpSpPr>
          <a:xfrm>
            <a:off x="1222375" y="1749425"/>
            <a:ext cx="2881313" cy="3970338"/>
            <a:chOff x="1111864" y="2050635"/>
            <a:chExt cx="2882083" cy="3971561"/>
          </a:xfrm>
        </p:grpSpPr>
        <p:grpSp>
          <p:nvGrpSpPr>
            <p:cNvPr id="28702" name="组合 3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10" name="矩形 9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任意多边形 10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1219992" y="2348829"/>
              <a:ext cx="812382" cy="91150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32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0</a:t>
              </a:r>
              <a:r>
                <a:rPr kumimoji="0" lang="vi-VN" altLang="en-US" sz="532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7</a:t>
              </a:r>
              <a:endParaRPr kumimoji="0" lang="vi-VN" altLang="en-US" sz="532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1943272" y="2568193"/>
              <a:ext cx="1767677" cy="542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ea"/>
                </a:rPr>
                <a:t> Thiết bị gia </a:t>
              </a:r>
              <a:r>
                <a:rPr kumimoji="0" lang="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ea"/>
                </a:rPr>
                <a:t>đ</a:t>
              </a: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ea"/>
                </a:rPr>
                <a:t>ình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  <a:sym typeface="+mn-ea"/>
                </a:rPr>
                <a:t> thông minh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2099701" y="2802891"/>
              <a:ext cx="309963" cy="255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7"/>
              </p:custDataLst>
            </p:nvPr>
          </p:nvSpPr>
          <p:spPr>
            <a:xfrm>
              <a:off x="1291689" y="3326347"/>
              <a:ext cx="2522293" cy="20618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loa thông minh, tivi, máy lạnh, robot hút bụi giúp tự 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ộng hóa nhiều công việc hằng ngày một cách dễ dàng, t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ă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ng sự tiện lợi, giúp cuộc sống 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ợc tối 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u hơn .</a:t>
              </a:r>
              <a:r>
                <a:rPr kumimoji="0" lang="vi-VN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	</a:t>
              </a:r>
              <a:endParaRPr kumimoji="0" lang="vi-VN" altLang="en-US" sz="15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8"/>
              </p:custDataLst>
            </p:nvPr>
          </p:nvCxnSpPr>
          <p:spPr>
            <a:xfrm>
              <a:off x="1270693" y="3290833"/>
              <a:ext cx="2543289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76" name="组合 11"/>
          <p:cNvGrpSpPr/>
          <p:nvPr>
            <p:custDataLst>
              <p:tags r:id="rId9"/>
            </p:custDataLst>
          </p:nvPr>
        </p:nvGrpSpPr>
        <p:grpSpPr>
          <a:xfrm>
            <a:off x="4638675" y="1749425"/>
            <a:ext cx="2881313" cy="3970338"/>
            <a:chOff x="1111864" y="2050635"/>
            <a:chExt cx="2882083" cy="3971561"/>
          </a:xfrm>
        </p:grpSpPr>
        <p:grpSp>
          <p:nvGrpSpPr>
            <p:cNvPr id="28690" name="组合 12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19" name="矩形 18"/>
              <p:cNvSpPr/>
              <p:nvPr>
                <p:custDataLst>
                  <p:tags r:id="rId10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任意多边形 19"/>
              <p:cNvSpPr/>
              <p:nvPr>
                <p:custDataLst>
                  <p:tags r:id="rId11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219992" y="2348829"/>
              <a:ext cx="909563" cy="91150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325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0</a:t>
              </a:r>
              <a:r>
                <a:rPr kumimoji="0" lang="vi-VN" altLang="en-US" sz="5325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8</a:t>
              </a:r>
              <a:endParaRPr kumimoji="0" lang="vi-VN" altLang="en-US" sz="5325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2008059" y="2566287"/>
              <a:ext cx="1351641" cy="542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Sản xuất và 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công nghiệp</a:t>
              </a: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2099701" y="2802891"/>
              <a:ext cx="309963" cy="255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91689" y="3326347"/>
              <a:ext cx="2522293" cy="25541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AI hỗ trợ tự 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ộng hóa dây chuyền, dự 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oán lỗi trong máy móc, quản l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ý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 kho  tối 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u quy trình, n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ă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ng suất và nâng cao chất l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ợng sản phẩm. Giúp các doanh nghiệp giảm 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ợc một số chi phí, tiết kiệm 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ợc thời gian.</a:t>
              </a:r>
              <a:endParaRPr kumimoji="0" lang="en-US" altLang="en-US" sz="15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cxnSp>
          <p:nvCxnSpPr>
            <p:cNvPr id="18" name="直接连接符 17"/>
            <p:cNvCxnSpPr/>
            <p:nvPr>
              <p:custDataLst>
                <p:tags r:id="rId16"/>
              </p:custDataLst>
            </p:nvPr>
          </p:nvCxnSpPr>
          <p:spPr>
            <a:xfrm>
              <a:off x="1270693" y="3290833"/>
              <a:ext cx="2543289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77" name="组合 20"/>
          <p:cNvGrpSpPr/>
          <p:nvPr>
            <p:custDataLst>
              <p:tags r:id="rId17"/>
            </p:custDataLst>
          </p:nvPr>
        </p:nvGrpSpPr>
        <p:grpSpPr>
          <a:xfrm>
            <a:off x="8051800" y="1751013"/>
            <a:ext cx="2881313" cy="3971925"/>
            <a:chOff x="1111864" y="2050635"/>
            <a:chExt cx="2882083" cy="3971561"/>
          </a:xfrm>
        </p:grpSpPr>
        <p:grpSp>
          <p:nvGrpSpPr>
            <p:cNvPr id="28678" name="组合 21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28" name="矩形 27"/>
              <p:cNvSpPr/>
              <p:nvPr>
                <p:custDataLst>
                  <p:tags r:id="rId18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任意多边形 28"/>
              <p:cNvSpPr/>
              <p:nvPr>
                <p:custDataLst>
                  <p:tags r:id="rId19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3" name="矩形 22"/>
            <p:cNvSpPr/>
            <p:nvPr>
              <p:custDataLst>
                <p:tags r:id="rId20"/>
              </p:custDataLst>
            </p:nvPr>
          </p:nvSpPr>
          <p:spPr>
            <a:xfrm>
              <a:off x="1219992" y="2348829"/>
              <a:ext cx="914009" cy="91114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325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0</a:t>
              </a:r>
              <a:r>
                <a:rPr kumimoji="0" lang="vi-VN" altLang="en-US" sz="5325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Impact" panose="020B0806030902050204" pitchFamily="34" charset="0"/>
                  <a:ea typeface="Microsoft YaHei" panose="020B0503020204020204" pitchFamily="34" charset="-122"/>
                  <a:cs typeface="+mn-cs"/>
                </a:rPr>
                <a:t>9</a:t>
              </a:r>
              <a:endParaRPr kumimoji="0" lang="vi-VN" altLang="en-US" sz="5325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21"/>
              </p:custDataLst>
            </p:nvPr>
          </p:nvSpPr>
          <p:spPr>
            <a:xfrm>
              <a:off x="2008059" y="2676767"/>
              <a:ext cx="1805787" cy="31683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Các lĩnh vực </a:t>
              </a:r>
              <a:r>
                <a:rPr kumimoji="0" lang="vi-VN" altLang="en-US" sz="146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khác</a:t>
              </a:r>
              <a:endParaRPr kumimoji="0" lang="vi-VN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22"/>
              </p:custDataLst>
            </p:nvPr>
          </p:nvSpPr>
          <p:spPr>
            <a:xfrm>
              <a:off x="2099701" y="2802891"/>
              <a:ext cx="309963" cy="25524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3"/>
              </p:custDataLst>
            </p:nvPr>
          </p:nvSpPr>
          <p:spPr>
            <a:xfrm>
              <a:off x="1291689" y="3326347"/>
              <a:ext cx="2522293" cy="25531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Ngoài ra, AI c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ũ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ng có nhiều ứng dụng khác trong các l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ĩ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nh vực nh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: tài chính giúp phân tích rủi ro, phát hiện gian lận, dịch vụ khách hàng thì có chatbot trả lời 24/7, truyền thông giúp phân tích xu h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ớng, tối </a:t>
              </a:r>
              <a:r>
                <a:rPr kumimoji="0" lang="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59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u nội dung.</a:t>
              </a:r>
              <a:endParaRPr kumimoji="0" lang="en-US" altLang="en-US" sz="15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24"/>
              </p:custDataLst>
            </p:nvPr>
          </p:nvCxnSpPr>
          <p:spPr>
            <a:xfrm>
              <a:off x="1270693" y="3290833"/>
              <a:ext cx="2543289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Click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4000">
              <a:schemeClr val="tx1">
                <a:lumMod val="95000"/>
                <a:lumOff val="5000"/>
              </a:schemeClr>
            </a:gs>
            <a:gs pos="0">
              <a:schemeClr val="tx1">
                <a:lumMod val="65000"/>
                <a:lumOff val="3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4263390" y="292100"/>
            <a:ext cx="7691120" cy="6274435"/>
          </a:xfrm>
          <a:prstGeom prst="rect">
            <a:avLst/>
          </a:prstGeom>
        </p:spPr>
      </p:pic>
      <p:grpSp>
        <p:nvGrpSpPr>
          <p:cNvPr id="28675" name="组合 2"/>
          <p:cNvGrpSpPr/>
          <p:nvPr>
            <p:custDataLst>
              <p:tags r:id="rId2"/>
            </p:custDataLst>
          </p:nvPr>
        </p:nvGrpSpPr>
        <p:grpSpPr>
          <a:xfrm>
            <a:off x="447675" y="292100"/>
            <a:ext cx="3507740" cy="6274435"/>
            <a:chOff x="1111864" y="2050635"/>
            <a:chExt cx="2882083" cy="3971561"/>
          </a:xfrm>
        </p:grpSpPr>
        <p:grpSp>
          <p:nvGrpSpPr>
            <p:cNvPr id="28702" name="组合 3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10" name="矩形 9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" name="任意多边形 10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>
              <a:off x="1309081" y="2201362"/>
              <a:ext cx="2581562" cy="9345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altLang="zh-CN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Đặc điểm nổi bật của AI trong lĩnh vực thực </a:t>
              </a:r>
              <a:r>
                <a:rPr kumimoji="0" lang="vi-VN" altLang="zh-CN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tiễn  </a:t>
              </a:r>
              <a:endParaRPr kumimoji="0" lang="vi-VN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6"/>
              </p:custDataLst>
            </p:nvPr>
          </p:nvSpPr>
          <p:spPr>
            <a:xfrm>
              <a:off x="2023304" y="2568193"/>
              <a:ext cx="1967756" cy="2005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7"/>
              </p:custDataLst>
            </p:nvPr>
          </p:nvSpPr>
          <p:spPr>
            <a:xfrm>
              <a:off x="2099701" y="2802891"/>
              <a:ext cx="309963" cy="2553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8"/>
              </p:custDataLst>
            </p:nvPr>
          </p:nvSpPr>
          <p:spPr>
            <a:xfrm>
              <a:off x="1270298" y="3233900"/>
              <a:ext cx="2522293" cy="18111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T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ối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u hóa hiệu quả hoạt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ộng, nâng cao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áng kể trải nghiệm mua sắm của khách hàng thông qua cá nhân hóa và hỗ trợ kịp thời,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ồng thời t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ă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ng c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ờng khả 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ă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ng cạnh tranh và thúc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ẩy t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ă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ng tr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ởng doanh thu cho doanh nghiệp.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9"/>
              </p:custDataLst>
            </p:nvPr>
          </p:nvCxnSpPr>
          <p:spPr>
            <a:xfrm flipV="1">
              <a:off x="1270693" y="3145733"/>
              <a:ext cx="2620170" cy="804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Click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4000">
              <a:schemeClr val="tx1">
                <a:lumMod val="95000"/>
                <a:lumOff val="5000"/>
              </a:schemeClr>
            </a:gs>
            <a:gs pos="0">
              <a:schemeClr val="tx1">
                <a:lumMod val="65000"/>
                <a:lumOff val="3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1630680" y="1938655"/>
            <a:ext cx="8335010" cy="4064635"/>
          </a:xfrm>
          <a:prstGeom prst="rect">
            <a:avLst/>
          </a:prstGeom>
        </p:spPr>
      </p:pic>
      <p:sp>
        <p:nvSpPr>
          <p:cNvPr id="7170" name="文本框 1"/>
          <p:cNvSpPr txBox="1"/>
          <p:nvPr/>
        </p:nvSpPr>
        <p:spPr>
          <a:xfrm>
            <a:off x="347980" y="219075"/>
            <a:ext cx="46132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vi-VN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Tóm tắt đánh </a:t>
            </a:r>
            <a:r>
              <a:rPr lang="vi-VN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giá </a:t>
            </a:r>
            <a:r>
              <a:rPr lang="en-US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CRAAP</a:t>
            </a:r>
            <a:r>
              <a:rPr lang="vi-VN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vi-VN" altLang="zh-CN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7201" name="组合 4"/>
          <p:cNvGrpSpPr/>
          <p:nvPr/>
        </p:nvGrpSpPr>
        <p:grpSpPr>
          <a:xfrm rot="0">
            <a:off x="1528445" y="1273810"/>
            <a:ext cx="9134475" cy="4811395"/>
            <a:chOff x="7545679" y="1569938"/>
            <a:chExt cx="8365887" cy="4811042"/>
          </a:xfrm>
        </p:grpSpPr>
        <p:grpSp>
          <p:nvGrpSpPr>
            <p:cNvPr id="7202" name="组合 5"/>
            <p:cNvGrpSpPr/>
            <p:nvPr/>
          </p:nvGrpSpPr>
          <p:grpSpPr>
            <a:xfrm>
              <a:off x="7545679" y="1569938"/>
              <a:ext cx="8365887" cy="4772945"/>
              <a:chOff x="795525" y="1444752"/>
              <a:chExt cx="23290556" cy="4772945"/>
            </a:xfrm>
          </p:grpSpPr>
          <p:sp>
            <p:nvSpPr>
              <p:cNvPr id="11" name="矩形 10"/>
              <p:cNvSpPr/>
              <p:nvPr/>
            </p:nvSpPr>
            <p:spPr>
              <a:xfrm flipH="1">
                <a:off x="795525" y="1444752"/>
                <a:ext cx="23288937" cy="4772945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任意多边形 11"/>
              <p:cNvSpPr/>
              <p:nvPr/>
            </p:nvSpPr>
            <p:spPr>
              <a:xfrm flipH="1">
                <a:off x="795525" y="1444752"/>
                <a:ext cx="23290556" cy="3064920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pic>
          <p:nvPicPr>
            <p:cNvPr id="7203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38584" y="1670244"/>
              <a:ext cx="319694" cy="32316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204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41582" y="5996857"/>
              <a:ext cx="319694" cy="32316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205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91200" y="1670244"/>
              <a:ext cx="319694" cy="32316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206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91290" y="6057815"/>
              <a:ext cx="319694" cy="323165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spd="slow" advClick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4000">
              <a:schemeClr val="tx1">
                <a:lumMod val="95000"/>
                <a:lumOff val="5000"/>
              </a:schemeClr>
            </a:gs>
            <a:gs pos="0">
              <a:schemeClr val="tx1">
                <a:lumMod val="65000"/>
                <a:lumOff val="3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2"/>
          <p:cNvGrpSpPr/>
          <p:nvPr>
            <p:custDataLst>
              <p:tags r:id="rId1"/>
            </p:custDataLst>
          </p:nvPr>
        </p:nvGrpSpPr>
        <p:grpSpPr>
          <a:xfrm>
            <a:off x="418465" y="426720"/>
            <a:ext cx="11363325" cy="6044565"/>
            <a:chOff x="1111864" y="2050635"/>
            <a:chExt cx="2882083" cy="3971561"/>
          </a:xfrm>
        </p:grpSpPr>
        <p:grpSp>
          <p:nvGrpSpPr>
            <p:cNvPr id="3" name="组合 3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4" name="矩形 9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任意多边形 10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3" name="矩形 4"/>
            <p:cNvSpPr/>
            <p:nvPr>
              <p:custDataLst>
                <p:tags r:id="rId4"/>
              </p:custDataLst>
            </p:nvPr>
          </p:nvSpPr>
          <p:spPr>
            <a:xfrm>
              <a:off x="1309242" y="2351980"/>
              <a:ext cx="2581562" cy="3634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1. Sử dụng &amp; hiệu quả</a:t>
              </a:r>
              <a:endPara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1" name="矩形 5"/>
            <p:cNvSpPr/>
            <p:nvPr>
              <p:custDataLst>
                <p:tags r:id="rId5"/>
              </p:custDataLst>
            </p:nvPr>
          </p:nvSpPr>
          <p:spPr>
            <a:xfrm>
              <a:off x="2023304" y="2568193"/>
              <a:ext cx="1967756" cy="2005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2" name="矩形 6"/>
            <p:cNvSpPr/>
            <p:nvPr>
              <p:custDataLst>
                <p:tags r:id="rId6"/>
              </p:custDataLst>
            </p:nvPr>
          </p:nvSpPr>
          <p:spPr>
            <a:xfrm>
              <a:off x="2099701" y="2802891"/>
              <a:ext cx="309963" cy="2553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30" name="矩形 7"/>
            <p:cNvSpPr/>
            <p:nvPr>
              <p:custDataLst>
                <p:tags r:id="rId7"/>
              </p:custDataLst>
            </p:nvPr>
          </p:nvSpPr>
          <p:spPr>
            <a:xfrm>
              <a:off x="1270298" y="3233900"/>
              <a:ext cx="2522293" cy="1151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vi-VN" altLang="en-US" sz="18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1. </a:t>
              </a:r>
              <a:r>
                <a:rPr lang="en-US" altLang="en-US" sz="18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AI giúp bạn tiết kiệm thời gian ra sao trong các hoạt động thường ngày?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vi-VN" altLang="en-US" sz="18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2. </a:t>
              </a:r>
              <a:r>
                <a:rPr lang="en-US" altLang="en-US" sz="18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Bạn cảm thấy năng suất làm việc/học tập của mình thay đổi thế nào khi có AI hỗ trợ?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vi-VN" altLang="en-US" sz="18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3. </a:t>
              </a:r>
              <a:r>
                <a:rPr lang="en-US" altLang="en-US" sz="18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rPr>
                <a:t>AI có thay thế được một số kỹ năng cơ bản của con người không? Nếu có, là những kỹ năng nào?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endParaRPr>
            </a:p>
          </p:txBody>
        </p:sp>
        <p:cxnSp>
          <p:nvCxnSpPr>
            <p:cNvPr id="31" name="直接连接符 8"/>
            <p:cNvCxnSpPr/>
            <p:nvPr>
              <p:custDataLst>
                <p:tags r:id="rId8"/>
              </p:custDataLst>
            </p:nvPr>
          </p:nvCxnSpPr>
          <p:spPr>
            <a:xfrm flipV="1">
              <a:off x="1270693" y="3145733"/>
              <a:ext cx="2620170" cy="804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Click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4000">
              <a:schemeClr val="tx1">
                <a:lumMod val="95000"/>
                <a:lumOff val="5000"/>
              </a:schemeClr>
            </a:gs>
            <a:gs pos="0">
              <a:schemeClr val="tx1">
                <a:lumMod val="65000"/>
                <a:lumOff val="3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2"/>
          <p:cNvGrpSpPr/>
          <p:nvPr>
            <p:custDataLst>
              <p:tags r:id="rId1"/>
            </p:custDataLst>
          </p:nvPr>
        </p:nvGrpSpPr>
        <p:grpSpPr>
          <a:xfrm>
            <a:off x="418465" y="426720"/>
            <a:ext cx="11363325" cy="6044565"/>
            <a:chOff x="1111864" y="2050635"/>
            <a:chExt cx="2882083" cy="3971561"/>
          </a:xfrm>
        </p:grpSpPr>
        <p:grpSp>
          <p:nvGrpSpPr>
            <p:cNvPr id="3" name="组合 3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4" name="矩形 9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任意多边形 10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3" name="矩形 4"/>
            <p:cNvSpPr/>
            <p:nvPr>
              <p:custDataLst>
                <p:tags r:id="rId4"/>
              </p:custDataLst>
            </p:nvPr>
          </p:nvSpPr>
          <p:spPr>
            <a:xfrm>
              <a:off x="1309242" y="2351980"/>
              <a:ext cx="2581562" cy="3634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2. </a:t>
              </a:r>
              <a:r>
                <a:rPr kumimoji="0" lang="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Đ</a:t>
              </a:r>
              <a:r>
                <a:rPr kumimoji="0" lang="en-US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ộ tin cậy &amp; rủi ro</a:t>
              </a:r>
              <a:endPara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1" name="矩形 5"/>
            <p:cNvSpPr/>
            <p:nvPr>
              <p:custDataLst>
                <p:tags r:id="rId5"/>
              </p:custDataLst>
            </p:nvPr>
          </p:nvSpPr>
          <p:spPr>
            <a:xfrm>
              <a:off x="2023304" y="2568193"/>
              <a:ext cx="1967756" cy="2005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2" name="矩形 6"/>
            <p:cNvSpPr/>
            <p:nvPr>
              <p:custDataLst>
                <p:tags r:id="rId6"/>
              </p:custDataLst>
            </p:nvPr>
          </p:nvSpPr>
          <p:spPr>
            <a:xfrm>
              <a:off x="2099701" y="2802891"/>
              <a:ext cx="309963" cy="2553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30" name="矩形 7"/>
            <p:cNvSpPr/>
            <p:nvPr>
              <p:custDataLst>
                <p:tags r:id="rId7"/>
              </p:custDataLst>
            </p:nvPr>
          </p:nvSpPr>
          <p:spPr>
            <a:xfrm>
              <a:off x="1270298" y="3233900"/>
              <a:ext cx="2522293" cy="1151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1.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AI giúp bạn tiết kiệm thời gian ra sao trong các hoạt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ộng th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ờng ngày?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2.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Bạn cảm thấy 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ă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ng suất làm việc/học tập của mình thay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ổi thế nào khi có AI hỗ trợ?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3.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AI có thay thế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đư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ợc một số kỹ 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ă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ng cơ bản của con ng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ời không? Nếu có, là những kỹ 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ă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ng nào?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cxnSp>
          <p:nvCxnSpPr>
            <p:cNvPr id="31" name="直接连接符 8"/>
            <p:cNvCxnSpPr/>
            <p:nvPr>
              <p:custDataLst>
                <p:tags r:id="rId8"/>
              </p:custDataLst>
            </p:nvPr>
          </p:nvCxnSpPr>
          <p:spPr>
            <a:xfrm flipV="1">
              <a:off x="1270693" y="3145733"/>
              <a:ext cx="2620170" cy="804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Click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4000">
              <a:schemeClr val="tx1">
                <a:lumMod val="95000"/>
                <a:lumOff val="5000"/>
              </a:schemeClr>
            </a:gs>
            <a:gs pos="0">
              <a:schemeClr val="tx1">
                <a:lumMod val="65000"/>
                <a:lumOff val="3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2"/>
          <p:cNvGrpSpPr/>
          <p:nvPr>
            <p:custDataLst>
              <p:tags r:id="rId1"/>
            </p:custDataLst>
          </p:nvPr>
        </p:nvGrpSpPr>
        <p:grpSpPr>
          <a:xfrm>
            <a:off x="418465" y="426720"/>
            <a:ext cx="11363325" cy="6044565"/>
            <a:chOff x="1111864" y="2050635"/>
            <a:chExt cx="2882083" cy="3971561"/>
          </a:xfrm>
        </p:grpSpPr>
        <p:grpSp>
          <p:nvGrpSpPr>
            <p:cNvPr id="3" name="组合 3"/>
            <p:cNvGrpSpPr/>
            <p:nvPr/>
          </p:nvGrpSpPr>
          <p:grpSpPr>
            <a:xfrm>
              <a:off x="1111864" y="2050635"/>
              <a:ext cx="2882083" cy="3971561"/>
              <a:chOff x="795525" y="1444752"/>
              <a:chExt cx="10533891" cy="4773168"/>
            </a:xfrm>
          </p:grpSpPr>
          <p:sp>
            <p:nvSpPr>
              <p:cNvPr id="4" name="矩形 9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795528" y="1444752"/>
                <a:ext cx="10533888" cy="4773168"/>
              </a:xfrm>
              <a:prstGeom prst="rect">
                <a:avLst/>
              </a:prstGeom>
              <a:noFill/>
              <a:ln w="28575">
                <a:gradFill>
                  <a:gsLst>
                    <a:gs pos="100000">
                      <a:srgbClr val="858585">
                        <a:alpha val="42000"/>
                      </a:srgbClr>
                    </a:gs>
                    <a:gs pos="0">
                      <a:schemeClr val="tx1">
                        <a:alpha val="30000"/>
                      </a:schemeClr>
                    </a:gs>
                    <a:gs pos="48000">
                      <a:schemeClr val="bg1"/>
                    </a:gs>
                  </a:gsLst>
                  <a:lin ang="27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任意多边形 10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795525" y="1444753"/>
                <a:ext cx="10511848" cy="3064922"/>
              </a:xfrm>
              <a:custGeom>
                <a:avLst/>
                <a:gdLst>
                  <a:gd name="connsiteX0" fmla="*/ 10511848 w 10511848"/>
                  <a:gd name="connsiteY0" fmla="*/ 0 h 3064922"/>
                  <a:gd name="connsiteX1" fmla="*/ 0 w 10511848"/>
                  <a:gd name="connsiteY1" fmla="*/ 0 h 3064922"/>
                  <a:gd name="connsiteX2" fmla="*/ 0 w 10511848"/>
                  <a:gd name="connsiteY2" fmla="*/ 3064922 h 3064922"/>
                  <a:gd name="connsiteX3" fmla="*/ 87949 w 10511848"/>
                  <a:gd name="connsiteY3" fmla="*/ 3020965 h 3064922"/>
                  <a:gd name="connsiteX4" fmla="*/ 6048113 w 10511848"/>
                  <a:gd name="connsiteY4" fmla="*/ 1747487 h 3064922"/>
                  <a:gd name="connsiteX5" fmla="*/ 10511198 w 10511848"/>
                  <a:gd name="connsiteY5" fmla="*/ 1239930 h 3064922"/>
                  <a:gd name="connsiteX6" fmla="*/ 10511848 w 10511848"/>
                  <a:gd name="connsiteY6" fmla="*/ 1239895 h 3064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11848" h="3064922">
                    <a:moveTo>
                      <a:pt x="10511848" y="0"/>
                    </a:moveTo>
                    <a:lnTo>
                      <a:pt x="0" y="0"/>
                    </a:lnTo>
                    <a:lnTo>
                      <a:pt x="0" y="3064922"/>
                    </a:lnTo>
                    <a:lnTo>
                      <a:pt x="87949" y="3020965"/>
                    </a:lnTo>
                    <a:cubicBezTo>
                      <a:pt x="858709" y="2684075"/>
                      <a:pt x="3227310" y="2169093"/>
                      <a:pt x="6048113" y="1747487"/>
                    </a:cubicBezTo>
                    <a:cubicBezTo>
                      <a:pt x="7783991" y="1488037"/>
                      <a:pt x="9362448" y="1313073"/>
                      <a:pt x="10511198" y="1239930"/>
                    </a:cubicBezTo>
                    <a:lnTo>
                      <a:pt x="10511848" y="1239895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8000"/>
                    </a:schemeClr>
                  </a:gs>
                  <a:gs pos="0">
                    <a:schemeClr val="tx1">
                      <a:alpha val="0"/>
                      <a:lumMod val="0"/>
                    </a:schemeClr>
                  </a:gs>
                </a:gsLst>
                <a:lin ang="19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3" name="矩形 4"/>
            <p:cNvSpPr/>
            <p:nvPr>
              <p:custDataLst>
                <p:tags r:id="rId4"/>
              </p:custDataLst>
            </p:nvPr>
          </p:nvSpPr>
          <p:spPr>
            <a:xfrm>
              <a:off x="1309242" y="2351980"/>
              <a:ext cx="2581562" cy="3634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3. </a:t>
              </a:r>
              <a:r>
                <a:rPr kumimoji="0" lang="en-US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T</a:t>
              </a:r>
              <a:r>
                <a:rPr kumimoji="0" lang="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ư</a:t>
              </a:r>
              <a:r>
                <a:rPr kumimoji="0" lang="en-US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ơng lai &amp; quan </a:t>
              </a:r>
              <a:r>
                <a:rPr kumimoji="0" lang="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đ</a:t>
              </a:r>
              <a:r>
                <a:rPr kumimoji="0" lang="en-US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iểm cá nhân</a:t>
              </a:r>
              <a:r>
                <a:rPr kumimoji="0" lang="vi-VN" altLang="en-US" sz="3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charset="0"/>
                  <a:ea typeface="Microsoft YaHei" panose="020B0503020204020204" pitchFamily="34" charset="-122"/>
                  <a:cs typeface="Times New Roman" panose="02020603050405020304" charset="0"/>
                </a:rPr>
                <a:t>	</a:t>
              </a:r>
              <a:endParaRPr kumimoji="0" lang="vi-V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charset="0"/>
                <a:ea typeface="Microsoft YaHei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21" name="矩形 5"/>
            <p:cNvSpPr/>
            <p:nvPr>
              <p:custDataLst>
                <p:tags r:id="rId5"/>
              </p:custDataLst>
            </p:nvPr>
          </p:nvSpPr>
          <p:spPr>
            <a:xfrm>
              <a:off x="2023304" y="2568193"/>
              <a:ext cx="1967756" cy="2005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46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2" name="矩形 6"/>
            <p:cNvSpPr/>
            <p:nvPr>
              <p:custDataLst>
                <p:tags r:id="rId6"/>
              </p:custDataLst>
            </p:nvPr>
          </p:nvSpPr>
          <p:spPr>
            <a:xfrm>
              <a:off x="2099701" y="2802891"/>
              <a:ext cx="309963" cy="2553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6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30" name="矩形 7"/>
            <p:cNvSpPr/>
            <p:nvPr>
              <p:custDataLst>
                <p:tags r:id="rId7"/>
              </p:custDataLst>
            </p:nvPr>
          </p:nvSpPr>
          <p:spPr>
            <a:xfrm>
              <a:off x="1270298" y="3233900"/>
              <a:ext cx="2522293" cy="9700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1.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Trong 5–10 n</a:t>
              </a:r>
              <a:r>
                <a:rPr kumimoji="0" lang="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ă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m nữa, bạn ngh</a:t>
              </a:r>
              <a:r>
                <a:rPr kumimoji="0" lang="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ĩ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 AI sẽ </a:t>
              </a:r>
              <a:r>
                <a:rPr kumimoji="0" lang="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óng vai trò gì trong cuộc sống con ng</a:t>
              </a:r>
              <a:r>
                <a:rPr kumimoji="0" lang="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ời?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2.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Bạn có sợ AI sẽ thay thế công việc của mình trong t</a:t>
              </a:r>
              <a:r>
                <a:rPr kumimoji="0" lang="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ơng lai không?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3.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Nếu không có AI, công việc và cuộc sống của bạn sẽ thay </a:t>
              </a:r>
              <a:r>
                <a:rPr kumimoji="0" lang="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đ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ổi nh</a:t>
              </a:r>
              <a:r>
                <a:rPr kumimoji="0" lang="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ư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 thế nào?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cxnSp>
          <p:nvCxnSpPr>
            <p:cNvPr id="31" name="直接连接符 8"/>
            <p:cNvCxnSpPr/>
            <p:nvPr>
              <p:custDataLst>
                <p:tags r:id="rId8"/>
              </p:custDataLst>
            </p:nvPr>
          </p:nvCxnSpPr>
          <p:spPr>
            <a:xfrm flipV="1">
              <a:off x="1270693" y="3145733"/>
              <a:ext cx="2620170" cy="804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Click="0">
    <p:wipe/>
  </p:transition>
</p:sld>
</file>

<file path=ppt/tags/tag1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2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3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4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5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6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7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8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9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0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1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2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3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4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5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6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7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8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9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20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21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22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23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24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25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26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27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28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29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30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31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32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33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34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35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36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37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38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39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40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41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42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43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44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45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46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47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48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49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50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51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52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53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54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55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56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57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58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59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60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61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62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63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64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65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66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67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68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69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70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71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72.xml><?xml version="1.0" encoding="utf-8"?>
<p:tagLst xmlns:p="http://schemas.openxmlformats.org/presentationml/2006/main">
  <p:tag name="KSO_WM_DIAGRAM_VIRTUALLY_FRAME" val="{&quot;height&quot;:320.8687992224768,&quot;left&quot;:96.24999999999997,&quot;top&quot;:137.75,&quot;width&quot;:791.2976751737257}"/>
</p:tagLst>
</file>

<file path=ppt/tags/tag73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74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75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76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77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78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79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80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81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82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83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84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85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86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87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88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89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90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91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92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93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94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95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96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97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98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99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00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01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02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03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ags/tag104.xml><?xml version="1.0" encoding="utf-8"?>
<p:tagLst xmlns:p="http://schemas.openxmlformats.org/presentationml/2006/main">
  <p:tag name="KSO_WM_DIAGRAM_VIRTUALLY_FRAME" val="{&quot;height&quot;:312.87503937007875,&quot;left&quot;:96.25,&quot;top&quot;:137.75,&quot;width&quot;:764.625039370078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3241</Words>
  <Application>WPS Presentation</Application>
  <PresentationFormat>宽屏</PresentationFormat>
  <Paragraphs>103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Times New Roman</vt:lpstr>
      <vt:lpstr>Microsoft YaHei</vt:lpstr>
      <vt:lpstr>Impact</vt:lpstr>
      <vt:lpstr>Arial Unicode MS</vt:lpstr>
      <vt:lpstr>Calibri Light</vt:lpstr>
      <vt:lpstr>Times New Roman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Minh Thái</cp:lastModifiedBy>
  <cp:revision>15</cp:revision>
  <dcterms:created xsi:type="dcterms:W3CDTF">2014-09-27T10:23:00Z</dcterms:created>
  <dcterms:modified xsi:type="dcterms:W3CDTF">2025-11-26T13:20:23Z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E87AB4CAFC064D8B98B79E02702338B7_13</vt:lpwstr>
  </property>
</Properties>
</file>